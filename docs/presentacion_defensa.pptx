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0A5FA"/>
              </a:solidFill>
              <a:ln w="9525" cap="flat">
                <a:solidFill>
                  <a:srgbClr val="1E3A8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27407F"/>
              </a:solidFill>
              <a:ln w="9525" cap="flat">
                <a:solidFill>
                  <a:srgbClr val="1E3A8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</c:v>
                </c:pt>
                <c:pt idx="1">
                  <c:v>24</c:v>
                </c:pt>
              </c:numCache>
            </c:numRef>
          </c:val>
        </c:ser>
        <c:firstSliceAng val="0"/>
        <c:holeSize val="68"/>
      </c:doughnutChart>
      <c:spPr>
        <a:solidFill>
          <a:srgbClr val="1E3A8A"/>
        </a:solidFill>
        <a:ln>
          <a:noFill/>
        </a:ln>
        <a:effectLst/>
      </c:spPr>
    </c:plotArea>
    <c:plotVisOnly val="1"/>
    <c:dispBlanksAs val="span"/>
  </c:chart>
  <c:spPr>
    <a:solidFill>
      <a:srgbClr val="1E3A8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5EFDF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sí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76</c:v>
                </c:pt>
                <c:pt idx="1">
                  <c:v>24</c:v>
                </c:pt>
              </c:numCache>
            </c:numRef>
          </c:val>
        </c:ser>
        <c:firstSliceAng val="0"/>
        <c:holeSize val="66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 (2025)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C. Lectora</c:v>
                  </c:pt>
                  <c:pt idx="1">
                    <c:v>Matemática M1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77.6</c:v>
                </c:pt>
                <c:pt idx="1">
                  <c:v>86.3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+2024 (el doble de filas)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C. Lectora</c:v>
                  </c:pt>
                  <c:pt idx="1">
                    <c:v>Matemática M1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77</c:v>
                </c:pt>
                <c:pt idx="1">
                  <c:v>87.2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+Colegio RBD (mejor señal)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C. Lectora</c:v>
                  </c:pt>
                  <c:pt idx="1">
                    <c:v>Matemática M1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75.4</c:v>
                </c:pt>
                <c:pt idx="1">
                  <c:v>81.9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Postulantes</c:v>
                </c:pt>
              </c:strCache>
            </c:strRef>
          </c:tx>
          <c:spPr>
            <a:solidFill>
              <a:srgbClr val="2563EB"/>
            </a:solidFill>
            <a:ln w="381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  <c:pt idx="7">
                    <c:v>2025</c:v>
                  </c:pt>
                  <c:pt idx="8">
                    <c:v>2026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122</c:v>
                </c:pt>
                <c:pt idx="1">
                  <c:v>144</c:v>
                </c:pt>
                <c:pt idx="2">
                  <c:v>116</c:v>
                </c:pt>
                <c:pt idx="3">
                  <c:v>126</c:v>
                </c:pt>
                <c:pt idx="4">
                  <c:v>183</c:v>
                </c:pt>
                <c:pt idx="5">
                  <c:v>295</c:v>
                </c:pt>
                <c:pt idx="6">
                  <c:v>300</c:v>
                </c:pt>
                <c:pt idx="7">
                  <c:v>255</c:v>
                </c:pt>
                <c:pt idx="8">
                  <c:v>211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que también postula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Arq. U. Andrés Bello</c:v>
                  </c:pt>
                  <c:pt idx="1">
                    <c:v>Arq. U. del Desarrollo</c:v>
                  </c:pt>
                  <c:pt idx="2">
                    <c:v>Arq. U. San Sebastián</c:v>
                  </c:pt>
                  <c:pt idx="3">
                    <c:v>Arq. UCSC</c:v>
                  </c:pt>
                  <c:pt idx="4">
                    <c:v>Arq. U. del Bío-Bío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</c:v>
                </c:pt>
                <c:pt idx="1">
                  <c:v>25.2</c:v>
                </c:pt>
                <c:pt idx="2">
                  <c:v>27</c:v>
                </c:pt>
                <c:pt idx="3">
                  <c:v>52.3</c:v>
                </c:pt>
                <c:pt idx="4">
                  <c:v>74.8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Saludo + integrantes. Gancho: cada año cientos de miles de estudiantes postulan a la universidad sin saber su probabilidad real de quedar. Nuestro dashboard responde eso, antes y después de rendir la PAES, con modelos calibrados sobre datos oficiales completos. Anunciar estructura: problema, datos, modelos, demo, hallazgos, limitaciones.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proceso de admisión es una caja negra para el postulante: conoce el corte del año pasado y nada más. Dos preguntas guía: la probabilidad real (predicción calibrada) y el peso del origen (hallazgo estructural). Enfatizar que la herramienta sirve ANTES de rendir (estimación por notas) y DESPUÉS (puntajes reales).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Punto fuerte metodológico: el master original venía sin script y con filas borradas sin trazabilidad; lo RECONSTRUIMOS desde los archivos crudos y el filtro de población quedó explícito (seleccionados y lista de espera, los que compitieron de verdad). Si preguntan por el filtro: ESTADO_PREF 24 = seleccionado (target), 25 = lista de espera; el resto no compitió (sin ponderado válido).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 usa notas + contexto; POST usa los puntajes reales (ahí el origen ya no cambia el resultado: el puntaje ya lo absorbió). Calibración isotónica: si decimos 70%, el 70% de esos casos queda seleccionado. La banda de puntaje es ancha (~220–280 pts) a propósito: honestidad estadística, cobertura validada ~80% en 2026. Si preguntan por qué GBM y no red neuronal: tabular + categóricas de alta cardinalidad; una red no aporta con este n y estas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VA LA DEMO EN VIVO (~4 min). Flujo sugerido: 1) elegir carrera y perfil, mostrar veredicto PRE con banda de incertidumbre; 2) ingresar puntajes → cambia a POST; 3) pestaña La carrera: ficha SIES + demanda + co-postulación; 4) ¿Dónde quedo? y Mapa (brecha territorial). Tener la app abierta ANTES de presentar. Plan B sin internet: capturas de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decisión NO fue intuición: corrimos el experimento (scripts/exp_score_2024_rbd.py) con validación 2025→2026 y SIN fuga (las medias de colegio del experimento usan solo el año previo). Conclusión transferible: con 250 mil filas ya estamos saturados; la ganancia viene de NUEVA señal (el colegio), no de más filas de la misma señal. Si preguntan por leakage: en producción las medias usan el pool completo porque ya no se evalúa contra ese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Izquierda: la demanda casi se triplicó al pico 2024 (122→300) y hoy baja — contexto de competencia que el corte solo no muestra. Derecha: el 74,8% de quienes ponen Arquitectura UdeC de 1ª también postula a la UBB — el mapa REAL de sustitutos, útil como plan B. Nota técnica si preguntan: usamos 2018–2026 aquí porque son CONTEOS (sin escala); para puntajes solo 2024–2026 (cambio de escala en 2024).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número sale del modelo de puntaje con la feature de colegio: mismo NEM 650 en Santiago, colegio de historial bajo ~550 vs alto ~692 en C. Lectora (mediana estimada). Mensaje: el modelo PREDICE el sistema tal cual es, no lo justifica — herramienta de transparencia. Conectar con el mapa territorial de la demo (brecha por comuna).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es el escudo para la ronda de preguntas — cada decisión tiene su porqué. Si preguntan por reentrenar con el corte 2026: la relación aprendida ('estar X pts sobre/bajo el corte previo') no cambia; solo se actualizó el valor del feature al proceso vigente. Si preguntan por carreras nuevas sin historia: flag ES_CARRERA_NUEVA, se marcan 🆕 y su probabilidad se declara orientativa.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las limitaciones nosotros primero quita el arma a la contraparte y transmite madurez metodológica. Ejemplo concreto: la sección financiera (ROI) se ELIMINÓ del dashboard porque los datos de aranceles/ingresos del SIES no eran accesibles — preferimos borrar una feature antes que mostrar números inventados.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los tres mensajes y abrir a preguntas. Tener a mano: AUC 0.975/0.914, cobertura ~80%, MAE −3 a −6 con colegio, población {24,25}, escala nueva 2024, corte 2026. Preguntas incómodas y respuestas: ver docs/guion_defensa.md §5.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02920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29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61264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DAML 2026  ·  GRUPO 5  ·  UNIVERSIDAD DE CONCEPCIÓN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66928" y="1417320"/>
            <a:ext cx="5577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¿Quedaré en mi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preferencia?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32461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predictivo de acceso universitario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datos PAES  ·  DEMRE + SIES + MINEDUC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66928" y="43159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final  ·  7 de julio de 2026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309360" y="1371600"/>
          <a:ext cx="24688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6903720" y="22402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6309360" y="3886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P(acceso) estimada — demo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se postula a ciegas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postulación centralizada define trayectorias de vida con información mínima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81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≈250 mil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rinden la PAES cada año (rendición 2026)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624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en la oferta centralizada 2026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657600"/>
            <a:ext cx="3383280" cy="960120"/>
          </a:xfrm>
          <a:prstGeom prst="roundRect">
            <a:avLst>
              <a:gd name="adj" fmla="val 857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767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42062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preferencias por cartola — la 1ª define el match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297680" y="137160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responde dos preguntas: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97680" y="1783080"/>
            <a:ext cx="434340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98848" y="216712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475" y="2290755"/>
            <a:ext cx="228234" cy="228234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120640" y="191109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¿Cuál es mi probabilidad real de quedar?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5120640" y="235000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calibrada de acceso a la 1ª preferencia, antes (con notas) y después (con puntajes) de la PAES.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297680" y="3200400"/>
            <a:ext cx="4343400" cy="1261872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498848" y="3584448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475" y="3708075"/>
            <a:ext cx="228234" cy="22823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120640" y="3328416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pesa mi origen?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5120640" y="376732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el colegio, la comuna y la dependencia condicionan el puntaje esperado — la dimensión estructural del acceso.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64108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datos: fuentes oficiales completas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muestras — los procesos de admisión completos, desde archivos crudos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316736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5361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874" y="1645554"/>
            <a:ext cx="201900" cy="201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490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 M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67512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postulaciones DEMRE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2018–2026, cartola completa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06040" cy="1316736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5361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794" y="1645554"/>
            <a:ext cx="201900" cy="2019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5072" y="1490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935 mil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3456432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rendiciones individuales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56432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ArchivoC 2024–2026 (notas + puntajes)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0760" y="1371600"/>
            <a:ext cx="2606040" cy="1316736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45352" y="1536192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4714" y="1645554"/>
            <a:ext cx="201900" cy="201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93992" y="1490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 mil</a:t>
            </a:r>
            <a:endParaRPr lang="en-US" sz="2300" dirty="0"/>
          </a:p>
        </p:txBody>
      </p:sp>
      <p:sp>
        <p:nvSpPr>
          <p:cNvPr id="20" name="Text 15"/>
          <p:cNvSpPr/>
          <p:nvPr/>
        </p:nvSpPr>
        <p:spPr>
          <a:xfrm>
            <a:off x="6245352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 SIES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45352" y="23042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 2018–24 + titulados 2024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2852928"/>
            <a:ext cx="2606040" cy="1316736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67512" y="3017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74" y="3126882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16152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16.694</a:t>
            </a:r>
            <a:endParaRPr lang="en-US" sz="2300" dirty="0"/>
          </a:p>
        </p:txBody>
      </p:sp>
      <p:sp>
        <p:nvSpPr>
          <p:cNvPr id="26" name="Text 20"/>
          <p:cNvSpPr/>
          <p:nvPr/>
        </p:nvSpPr>
        <p:spPr>
          <a:xfrm>
            <a:off x="667512" y="3511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establecimientos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667512" y="378561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oficial MINEDUC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91840" y="2852928"/>
            <a:ext cx="2606040" cy="1316736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456432" y="3017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5794" y="3126882"/>
            <a:ext cx="201900" cy="2019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05072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2.150</a:t>
            </a:r>
            <a:endParaRPr lang="en-US" sz="2300" dirty="0"/>
          </a:p>
        </p:txBody>
      </p:sp>
      <p:sp>
        <p:nvSpPr>
          <p:cNvPr id="32" name="Text 25"/>
          <p:cNvSpPr/>
          <p:nvPr/>
        </p:nvSpPr>
        <p:spPr>
          <a:xfrm>
            <a:off x="3456432" y="3511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carreras oferta 2026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3456432" y="378561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ponderaciones, vacantes, cortes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080760" y="2852928"/>
            <a:ext cx="2606040" cy="1316736"/>
          </a:xfrm>
          <a:prstGeom prst="roundRect">
            <a:avLst>
              <a:gd name="adj" fmla="val 625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45352" y="301752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4714" y="3126882"/>
            <a:ext cx="201900" cy="20190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793992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2300" dirty="0"/>
          </a:p>
        </p:txBody>
      </p:sp>
      <p:sp>
        <p:nvSpPr>
          <p:cNvPr id="38" name="Text 30"/>
          <p:cNvSpPr/>
          <p:nvPr/>
        </p:nvSpPr>
        <p:spPr>
          <a:xfrm>
            <a:off x="6245352" y="35112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comunas mapeadas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6245352" y="378561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geo: regiones + centroides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502920" y="4434840"/>
            <a:ext cx="8138160" cy="475488"/>
          </a:xfrm>
          <a:prstGeom prst="roundRect">
            <a:avLst>
              <a:gd name="adj" fmla="val 17308"/>
            </a:avLst>
          </a:prstGeom>
          <a:solidFill>
            <a:srgbClr val="1E3A8A"/>
          </a:solidFill>
          <a:ln/>
        </p:spPr>
      </p:sp>
      <p:sp>
        <p:nvSpPr>
          <p:cNvPr id="41" name="Text 33"/>
          <p:cNvSpPr/>
          <p:nvPr/>
        </p:nvSpPr>
        <p:spPr>
          <a:xfrm>
            <a:off x="731520" y="443484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100% reproducible: </a:t>
            </a:r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número de la app se regenera desde los crudos con scripts/ (población explícita: ESTADO_PREF ∈ {24, 25})</a:t>
            </a:r>
            <a:endParaRPr lang="en-US" sz="1200" dirty="0"/>
          </a:p>
        </p:txBody>
      </p:sp>
      <p:sp>
        <p:nvSpPr>
          <p:cNvPr id="42" name="Text 34"/>
          <p:cNvSpPr/>
          <p:nvPr/>
        </p:nvSpPr>
        <p:spPr>
          <a:xfrm>
            <a:off x="864108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modelos: predicción calibrada y honesta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+ calibración isotónica + regresión por cuantiles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5361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550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PRE-PAES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0.914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667512" y="26151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1ª preferencia con notas + contexto (antes de rendir)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432" y="15361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655064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2336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456432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0.975</a:t>
            </a:r>
            <a:endParaRPr lang="en-US" sz="2700" dirty="0"/>
          </a:p>
        </p:txBody>
      </p:sp>
      <p:sp>
        <p:nvSpPr>
          <p:cNvPr id="15" name="Text 11"/>
          <p:cNvSpPr/>
          <p:nvPr/>
        </p:nvSpPr>
        <p:spPr>
          <a:xfrm>
            <a:off x="3456432" y="26151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puntajes PAES reales — el origen deja de mover el resultado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80760" y="1371600"/>
            <a:ext cx="2606040" cy="1965960"/>
          </a:xfrm>
          <a:prstGeom prst="roundRect">
            <a:avLst>
              <a:gd name="adj" fmla="val 418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45352" y="15361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655064"/>
            <a:ext cx="219456" cy="2194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12280" y="15727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(cuantiles)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45352" y="20848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~80% cobertura</a:t>
            </a:r>
            <a:endParaRPr lang="en-US" sz="2700" dirty="0"/>
          </a:p>
        </p:txBody>
      </p:sp>
      <p:sp>
        <p:nvSpPr>
          <p:cNvPr id="21" name="Text 16"/>
          <p:cNvSpPr/>
          <p:nvPr/>
        </p:nvSpPr>
        <p:spPr>
          <a:xfrm>
            <a:off x="6245352" y="2615184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Banda P10–P90 por prueba: el rango honesto de lo que sacan perfiles como el tuyo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02920" y="36118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temporal estricta — nunca se evalúa dentro del mismo año: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051560" y="4041648"/>
            <a:ext cx="2651760" cy="658368"/>
          </a:xfrm>
          <a:prstGeom prst="roundRect">
            <a:avLst>
              <a:gd name="adj" fmla="val 12500"/>
            </a:avLst>
          </a:prstGeom>
          <a:solidFill>
            <a:srgbClr val="1E3A8A"/>
          </a:solidFill>
          <a:ln/>
        </p:spPr>
      </p:sp>
      <p:sp>
        <p:nvSpPr>
          <p:cNvPr id="24" name="Text 19"/>
          <p:cNvSpPr/>
          <p:nvPr/>
        </p:nvSpPr>
        <p:spPr>
          <a:xfrm>
            <a:off x="1051560" y="40416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 · cohorte 2025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3886200" y="4169664"/>
            <a:ext cx="1188720" cy="402336"/>
          </a:xfrm>
          <a:prstGeom prst="rightArrow">
            <a:avLst/>
          </a:prstGeom>
          <a:solidFill>
            <a:srgbClr val="DBEAFE"/>
          </a:solidFill>
          <a:ln/>
        </p:spPr>
      </p:sp>
      <p:sp>
        <p:nvSpPr>
          <p:cNvPr id="26" name="Shape 21"/>
          <p:cNvSpPr/>
          <p:nvPr/>
        </p:nvSpPr>
        <p:spPr>
          <a:xfrm>
            <a:off x="5257800" y="4041648"/>
            <a:ext cx="2651760" cy="65836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7" name="Text 22"/>
          <p:cNvSpPr/>
          <p:nvPr/>
        </p:nvSpPr>
        <p:spPr>
          <a:xfrm>
            <a:off x="5257800" y="4041648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 · cohorte 2026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864108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producto: un flujo, cinco modos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datos en la barra lateral · cada pestaña responde una pregunta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4846320" cy="3429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DBEAFE"/>
            </a:solidFill>
            <a:prstDash val="solid"/>
          </a:ln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517904"/>
            <a:ext cx="1170432" cy="3136392"/>
          </a:xfrm>
          <a:prstGeom prst="roundRect">
            <a:avLst>
              <a:gd name="adj" fmla="val 5469"/>
            </a:avLst>
          </a:prstGeom>
          <a:solidFill>
            <a:srgbClr val="EFF6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910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883664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8836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731520" y="2340864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23408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31520" y="2798064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7980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· ranking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31520" y="3255264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2552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· comuna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31520" y="3712464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7124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(opc.)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31520" y="4169664"/>
            <a:ext cx="1024128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416966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Puntajes PAES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956816" y="1554480"/>
            <a:ext cx="630936" cy="310896"/>
          </a:xfrm>
          <a:prstGeom prst="roundRect">
            <a:avLst>
              <a:gd name="adj" fmla="val 14706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956816" y="1554480"/>
            <a:ext cx="630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24328" y="1554480"/>
            <a:ext cx="630936" cy="310896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2624328" y="1554480"/>
            <a:ext cx="630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91840" y="1554480"/>
            <a:ext cx="630936" cy="310896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1554480"/>
            <a:ext cx="630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959352" y="1554480"/>
            <a:ext cx="630936" cy="310896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3959352" y="1554480"/>
            <a:ext cx="630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26864" y="1554480"/>
            <a:ext cx="630936" cy="310896"/>
          </a:xfrm>
          <a:prstGeom prst="roundRect">
            <a:avLst>
              <a:gd name="adj" fmla="val 14706"/>
            </a:avLst>
          </a:prstGeom>
          <a:solidFill>
            <a:srgbClr val="EFF6FF"/>
          </a:solidFill>
          <a:ln/>
        </p:spPr>
      </p:sp>
      <p:sp>
        <p:nvSpPr>
          <p:cNvPr id="28" name="Text 26"/>
          <p:cNvSpPr/>
          <p:nvPr/>
        </p:nvSpPr>
        <p:spPr>
          <a:xfrm>
            <a:off x="4626864" y="1554480"/>
            <a:ext cx="630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9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2011680" y="2057400"/>
          <a:ext cx="160020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Text 27"/>
          <p:cNvSpPr/>
          <p:nvPr/>
        </p:nvSpPr>
        <p:spPr>
          <a:xfrm>
            <a:off x="2377440" y="2615184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3794760" y="2788920"/>
            <a:ext cx="13716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114800" y="2633472"/>
            <a:ext cx="685800" cy="310896"/>
          </a:xfrm>
          <a:prstGeom prst="roundRect">
            <a:avLst>
              <a:gd name="adj" fmla="val 8824"/>
            </a:avLst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041648" y="2560320"/>
            <a:ext cx="0" cy="457200"/>
          </a:xfrm>
          <a:prstGeom prst="line">
            <a:avLst/>
          </a:prstGeom>
          <a:noFill/>
          <a:ln w="25400">
            <a:solidFill>
              <a:srgbClr val="DC2626"/>
            </a:solidFill>
            <a:prstDash val="dash"/>
          </a:ln>
        </p:spPr>
      </p:sp>
      <p:sp>
        <p:nvSpPr>
          <p:cNvPr id="34" name="Shape 31"/>
          <p:cNvSpPr/>
          <p:nvPr/>
        </p:nvSpPr>
        <p:spPr>
          <a:xfrm>
            <a:off x="4864608" y="2697480"/>
            <a:ext cx="182880" cy="182880"/>
          </a:xfrm>
          <a:prstGeom prst="diamond">
            <a:avLst/>
          </a:prstGeom>
          <a:solidFill>
            <a:srgbClr val="16A34A"/>
          </a:solidFill>
          <a:ln/>
        </p:spPr>
      </p:sp>
      <p:sp>
        <p:nvSpPr>
          <p:cNvPr id="35" name="Text 32"/>
          <p:cNvSpPr/>
          <p:nvPr/>
        </p:nvSpPr>
        <p:spPr>
          <a:xfrm>
            <a:off x="3657600" y="312724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· seleccionados 2026 · tú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011680" y="422452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Veredicto: gauge + ¿cuánto me falta? + boxplot de seleccionados + export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5623560" y="1426464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8" name="Text 35"/>
          <p:cNvSpPr/>
          <p:nvPr/>
        </p:nvSpPr>
        <p:spPr>
          <a:xfrm>
            <a:off x="5623560" y="1426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39" name="Text 36"/>
          <p:cNvSpPr/>
          <p:nvPr/>
        </p:nvSpPr>
        <p:spPr>
          <a:xfrm>
            <a:off x="6163056" y="13716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en la barra lateral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163056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carrera, notas, origen, colegio opcional, puntajes si ya rindió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623560" y="2313432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2" name="Text 39"/>
          <p:cNvSpPr/>
          <p:nvPr/>
        </p:nvSpPr>
        <p:spPr>
          <a:xfrm>
            <a:off x="5623560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6163056" y="225856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 inmediato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163056" y="255117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si no hay puntajes; cambia solo al modelo POST al ingresarlos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5623560" y="3200400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6" name="Text 43"/>
          <p:cNvSpPr/>
          <p:nvPr/>
        </p:nvSpPr>
        <p:spPr>
          <a:xfrm>
            <a:off x="562356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7" name="Text 44"/>
          <p:cNvSpPr/>
          <p:nvPr/>
        </p:nvSpPr>
        <p:spPr>
          <a:xfrm>
            <a:off x="6163056" y="314553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 la carrera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6163056" y="343814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SIES, demanda, competencia, titulación y brecha de género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5623560" y="4087368"/>
            <a:ext cx="402336" cy="402336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0" name="Text 47"/>
          <p:cNvSpPr/>
          <p:nvPr/>
        </p:nvSpPr>
        <p:spPr>
          <a:xfrm>
            <a:off x="5623560" y="40873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6163056" y="40325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alternativas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6163056" y="432511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área-aware, comparador 2–3 programas, mapa territorial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864108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experimento: más datos no mejoró — mejor señal, sí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del puntaje predicho (mediana), test 2026 · menor es mejor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371600"/>
          <a:ext cx="5029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15000" y="1371600"/>
            <a:ext cx="2926080" cy="987552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97880" y="14538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Duplicamos el entrenamiento (248k → 492k filas): ΔMAE &lt; 1 pt.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897880" y="18836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imprecisión del puntaje individual es intrínseca, no falta de datos.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715000" y="2505456"/>
            <a:ext cx="2926080" cy="987552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97880" y="258775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PAES del colegio (RBD): −3 a −6 pts de MAE en las 5 pruebas.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9788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por colegio (2024–26) × Directorio MINEDUC, con shrinkage bayesiano (K=20) para colegios chicos.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15000" y="3639312"/>
            <a:ext cx="2926080" cy="987552"/>
          </a:xfrm>
          <a:prstGeom prst="roundRect">
            <a:avLst>
              <a:gd name="adj" fmla="val 7407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97880" y="372160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app es opcional y coherente.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97880" y="41513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Cascada comuna → dependencia → rama → colegio: solo se ofrece lo que existe; sin colegio, media comunal.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4108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 M de postulaciones hablan: demanda y competencia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real: Arquitectura · Universidad de Concepción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1298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Postulantes en 1ª preferencia por año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02920" y="1600200"/>
          <a:ext cx="41148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02920" y="45262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conteos no dependen de la escala de puntajes → serie 2018–2026 completa y comparable.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892040" y="129844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qué más postulan? (222 postulantes 1ª pref, 2026)</a:t>
            </a:r>
            <a:endParaRPr lang="en-US" sz="125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892040" y="1600200"/>
          <a:ext cx="384048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 5"/>
          <p:cNvSpPr/>
          <p:nvPr/>
        </p:nvSpPr>
        <p:spPr>
          <a:xfrm>
            <a:off x="4892040" y="4526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B real de los postulantes: las carreras que compiten por los mismos estudiantes.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64108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hallazgo: el contexto predice el puntaje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estudiante en el papel — distinto colegio, distinto futuro esperado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475488" cy="475488"/>
          </a:xfrm>
          <a:prstGeom prst="ellipse">
            <a:avLst/>
          </a:prstGeom>
          <a:solidFill>
            <a:srgbClr val="64748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427" y="1769547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9304" y="1700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650 · Santiago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8580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con historial PAES bajo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2834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~550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8580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Lectora estimada (mediana)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383280" y="1463040"/>
            <a:ext cx="2697480" cy="2651760"/>
          </a:xfrm>
          <a:prstGeom prst="roundRect">
            <a:avLst>
              <a:gd name="adj" fmla="val 3448"/>
            </a:avLst>
          </a:prstGeom>
          <a:solidFill>
            <a:srgbClr val="EFF6FF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645920"/>
            <a:ext cx="475488" cy="475488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9787" y="1769547"/>
            <a:ext cx="228234" cy="2282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169664" y="1700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650 · Santiago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6616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 con historial PAES alto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566160" y="283464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~692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3566160" y="36118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Lectora estimada (mediana)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309360" y="14630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1E3A8A"/>
          </a:solidFill>
          <a:ln/>
          <a:effectLst>
            <a:outerShdw sx="100000" sy="100000" kx="0" ky="0" algn="bl" rotWithShape="0" blurRad="88900" dist="25400" dir="2700000">
              <a:srgbClr val="1E3A8A">
                <a:alpha val="14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492240" y="18288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+142</a:t>
            </a:r>
            <a:endParaRPr lang="en-US" sz="4400" dirty="0"/>
          </a:p>
        </p:txBody>
      </p:sp>
      <p:sp>
        <p:nvSpPr>
          <p:cNvPr id="20" name="Text 16"/>
          <p:cNvSpPr/>
          <p:nvPr/>
        </p:nvSpPr>
        <p:spPr>
          <a:xfrm>
            <a:off x="6492240" y="2651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diferencia esperada con las mismas notas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502920" y="431596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Determinante estructural, no mérito puro: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colegio y el territorio condicionan el puntaje esperado. El mapa por comuna muestra la misma brecha a escala nacional — y con puntajes reales (POST), el origen deja de mover la predicción: el puntaje ya absorbió esa historia.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64108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metodológicas (y por qué)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cinco que sostienen el proyecto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53896"/>
            <a:ext cx="219456" cy="219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29844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ser seleccionado, no matricularse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1563624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Matricularse es una decisión posterior del estudiante (becas, cambio de opinión); mezclarla contaminaría el target. La matrícula efectiva se reporta como contexto.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57400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17627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20208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Población explícita: ESTADO_PREF ∈ {24, 25}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143000" y="228600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quienes compitieron de verdad (seleccionados + lista de espera). El filtro vive en el código, no en un Excel sin traza.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2779776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98648"/>
            <a:ext cx="219456" cy="2194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743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referencia = último proceso cerrado (2026)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3008376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quien postula hoy, el corte vigente es 2026 — mismo concepto que aprendió el modelo (corte del año previo), con el valor vigente.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3502152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621024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346557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nueva desde 2024 — nunca mezclar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143000" y="3730752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techo del ponderado salta ~995 → ~1095 entre 2023 y 2024. Puntajes: solo 2024–26. Conteos: serie completa.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02920" y="4224528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343400"/>
            <a:ext cx="219456" cy="21945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43000" y="41879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+ incertidumbre siempre visible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143000" y="4453128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Isotónica para que 70% signifique 70%; banda P10–P90 con cobertura validada ~80%; export dice 'estimación, no garantía'.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864108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— dichas antes de que las pregunten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841248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 como principio de diseño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438912" cy="438912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37" y="1421709"/>
            <a:ext cx="210678" cy="210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280160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no disponible a nivel individual en DEMRE —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brecha de género se muestra solo con agregados SIES (titulación y matrícula).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1965960"/>
            <a:ext cx="438912" cy="438912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037" y="2080077"/>
            <a:ext cx="210678" cy="21067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938528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arancel no existe en DEMRE/SIES disponibles —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lo informa explícitamente en vez de inventarlo o estimarlo.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02920" y="2624328"/>
            <a:ext cx="438912" cy="438912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037" y="2738445"/>
            <a:ext cx="210678" cy="2106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15568" y="2596896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Origen escolar (TES) sobre la matrícula total —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SIES no publica el desglose para la cohorte de 1er año; está rotulado así en la app.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02920" y="3282696"/>
            <a:ext cx="438912" cy="438912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37" y="3396813"/>
            <a:ext cx="210678" cy="21067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15568" y="325526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DEMRE↔SIES por nombre: 86% de calce —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códigos son incompatibles entre sistemas; el resto muestra 's/d', nunca un dato falso.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02920" y="3941064"/>
            <a:ext cx="438912" cy="438912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037" y="4055181"/>
            <a:ext cx="210678" cy="21067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15568" y="3913632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predice el sistema tal cual es — </a:t>
            </a:r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hereda las desigualdades históricas de los datos — por eso el hallazgo estructural se muestra, no se esconde.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02920" y="4645152"/>
            <a:ext cx="813816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/>
        </p:spPr>
      </p:sp>
      <p:sp>
        <p:nvSpPr>
          <p:cNvPr id="20" name="Text 13"/>
          <p:cNvSpPr/>
          <p:nvPr/>
        </p:nvSpPr>
        <p:spPr>
          <a:xfrm>
            <a:off x="731520" y="464515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del proyecto: si el dato no existe, se dice — no se rellena.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864108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datos crudos a una decisión informada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371600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535" y="1476207"/>
            <a:ext cx="193121" cy="1931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34416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Probabilidad calibrada de acceso, antes y después de la PAES, con validación temporal estricta.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66928" y="208483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35" y="2189439"/>
            <a:ext cx="193121" cy="19312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3000" y="205740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100% reproducible: cada cifra se regenera desde los archivos crudos oficiales.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66928" y="279806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" y="2902671"/>
            <a:ext cx="193121" cy="19312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3000" y="277063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evidencia guió el diseño: experimento del colegio, escala 2024, y honestidad cuando el dato no existe.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66928" y="3657600"/>
            <a:ext cx="1901952" cy="868680"/>
          </a:xfrm>
          <a:prstGeom prst="roundRect">
            <a:avLst>
              <a:gd name="adj" fmla="val 9474"/>
            </a:avLst>
          </a:prstGeom>
          <a:solidFill>
            <a:srgbClr val="27407F"/>
          </a:solidFill>
          <a:ln/>
        </p:spPr>
      </p:sp>
      <p:sp>
        <p:nvSpPr>
          <p:cNvPr id="13" name="Text 8"/>
          <p:cNvSpPr/>
          <p:nvPr/>
        </p:nvSpPr>
        <p:spPr>
          <a:xfrm>
            <a:off x="566928" y="37307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0.975</a:t>
            </a:r>
            <a:endParaRPr lang="en-US" sz="2100" dirty="0"/>
          </a:p>
        </p:txBody>
      </p:sp>
      <p:sp>
        <p:nvSpPr>
          <p:cNvPr id="14" name="Text 9"/>
          <p:cNvSpPr/>
          <p:nvPr/>
        </p:nvSpPr>
        <p:spPr>
          <a:xfrm>
            <a:off x="566928" y="41696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POST-PAES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651760" y="3657600"/>
            <a:ext cx="1901952" cy="868680"/>
          </a:xfrm>
          <a:prstGeom prst="roundRect">
            <a:avLst>
              <a:gd name="adj" fmla="val 9474"/>
            </a:avLst>
          </a:prstGeom>
          <a:solidFill>
            <a:srgbClr val="27407F"/>
          </a:solidFill>
          <a:ln/>
        </p:spPr>
      </p:sp>
      <p:sp>
        <p:nvSpPr>
          <p:cNvPr id="16" name="Text 11"/>
          <p:cNvSpPr/>
          <p:nvPr/>
        </p:nvSpPr>
        <p:spPr>
          <a:xfrm>
            <a:off x="2651760" y="37307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6,5 M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2651760" y="41696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postulaciones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4736592" y="3657600"/>
            <a:ext cx="1901952" cy="868680"/>
          </a:xfrm>
          <a:prstGeom prst="roundRect">
            <a:avLst>
              <a:gd name="adj" fmla="val 9474"/>
            </a:avLst>
          </a:prstGeom>
          <a:solidFill>
            <a:srgbClr val="27407F"/>
          </a:solidFill>
          <a:ln/>
        </p:spPr>
      </p:sp>
      <p:sp>
        <p:nvSpPr>
          <p:cNvPr id="19" name="Text 14"/>
          <p:cNvSpPr/>
          <p:nvPr/>
        </p:nvSpPr>
        <p:spPr>
          <a:xfrm>
            <a:off x="4736592" y="37307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3.373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4736592" y="41696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colegios con historial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821424" y="3657600"/>
            <a:ext cx="1901952" cy="868680"/>
          </a:xfrm>
          <a:prstGeom prst="roundRect">
            <a:avLst>
              <a:gd name="adj" fmla="val 9474"/>
            </a:avLst>
          </a:prstGeom>
          <a:solidFill>
            <a:srgbClr val="27407F"/>
          </a:solidFill>
          <a:ln/>
        </p:spPr>
      </p:sp>
      <p:sp>
        <p:nvSpPr>
          <p:cNvPr id="22" name="Text 17"/>
          <p:cNvSpPr/>
          <p:nvPr/>
        </p:nvSpPr>
        <p:spPr>
          <a:xfrm>
            <a:off x="6821424" y="373075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14/14</a:t>
            </a:r>
            <a:endParaRPr lang="en-US" sz="2100" dirty="0"/>
          </a:p>
        </p:txBody>
      </p:sp>
      <p:sp>
        <p:nvSpPr>
          <p:cNvPr id="23" name="Text 18"/>
          <p:cNvSpPr/>
          <p:nvPr/>
        </p:nvSpPr>
        <p:spPr>
          <a:xfrm>
            <a:off x="6821424" y="416966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B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del pipeline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66928" y="468172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 </a:t>
            </a:r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pacortes2021-damlpaes-srcapp-yurxbl.streamlit.app</a:t>
            </a:r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Gracias — ¿preguntas?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¿Quedaré en mi primera preferencia?</dc:title>
  <dc:subject>PptxGenJS Presentation</dc:subject>
  <dc:creator>DAML 2026 · Grupo 5</dc:creator>
  <cp:lastModifiedBy>DAML 2026 · Grupo 5</cp:lastModifiedBy>
  <cp:revision>1</cp:revision>
  <dcterms:created xsi:type="dcterms:W3CDTF">2026-07-02T19:18:48Z</dcterms:created>
  <dcterms:modified xsi:type="dcterms:W3CDTF">2026-07-02T19:18:48Z</dcterms:modified>
</cp:coreProperties>
</file>